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5" r:id="rId3"/>
    <p:sldId id="258" r:id="rId4"/>
    <p:sldId id="260" r:id="rId5"/>
    <p:sldId id="261" r:id="rId6"/>
    <p:sldId id="262" r:id="rId7"/>
    <p:sldId id="267" r:id="rId8"/>
    <p:sldId id="268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80" r:id="rId19"/>
    <p:sldId id="264" r:id="rId20"/>
    <p:sldId id="266" r:id="rId21"/>
    <p:sldId id="259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Libre Baskerville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43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28281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233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AE" sz="3000" b="1" dirty="0">
                <a:latin typeface="+mj-lt"/>
                <a:cs typeface="Times New Roman" panose="02020603050405020304" pitchFamily="18" charset="0"/>
              </a:rPr>
              <a:t>H</a:t>
            </a:r>
            <a:r>
              <a:rPr lang="en-IN" sz="3000" b="1" dirty="0" err="1">
                <a:latin typeface="+mj-lt"/>
                <a:cs typeface="Times New Roman" panose="02020603050405020304" pitchFamily="18" charset="0"/>
              </a:rPr>
              <a:t>ospital</a:t>
            </a:r>
            <a:r>
              <a:rPr lang="en-IN" sz="3000" b="1" dirty="0">
                <a:latin typeface="+mj-lt"/>
                <a:cs typeface="Times New Roman" panose="02020603050405020304" pitchFamily="18" charset="0"/>
              </a:rPr>
              <a:t> Patient Care Operations Analytics System</a:t>
            </a:r>
            <a:endParaRPr lang="en-AE" sz="3000" b="1" dirty="0">
              <a:latin typeface="+mj-lt"/>
              <a:cs typeface="Times New Roman" panose="02020603050405020304" pitchFamily="18" charset="0"/>
            </a:endParaRPr>
          </a:p>
          <a:p>
            <a:pPr lvl="0" algn="ctr">
              <a:buSzPts val="1800"/>
            </a:pPr>
            <a:r>
              <a:rPr lang="en-AE" b="1" dirty="0">
                <a:latin typeface="+mj-lt"/>
                <a:cs typeface="Times New Roman" panose="02020603050405020304" pitchFamily="18" charset="0"/>
              </a:rPr>
              <a:t>A</a:t>
            </a:r>
            <a:r>
              <a:rPr lang="en-AE" b="1" i="0" u="none" strike="noStrike" cap="none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Arial"/>
              </a:rPr>
              <a:t> DATABASE Using MYSQL</a:t>
            </a:r>
          </a:p>
          <a:p>
            <a:pPr lvl="0" algn="ctr">
              <a:buSzPts val="1800"/>
            </a:pPr>
            <a:endParaRPr lang="en-AE" sz="1200" b="1" i="0" u="none" strike="noStrike" cap="none" dirty="0">
              <a:solidFill>
                <a:srgbClr val="000000"/>
              </a:solidFill>
              <a:latin typeface="+mj-lt"/>
              <a:cs typeface="Times New Roman" panose="02020603050405020304" pitchFamily="18" charset="0"/>
              <a:sym typeface="Arial"/>
            </a:endParaRPr>
          </a:p>
          <a:p>
            <a:pPr lvl="0" algn="ctr">
              <a:buSzPts val="1800"/>
            </a:pPr>
            <a:endParaRPr lang="en-AE" sz="1200" b="1" dirty="0">
              <a:latin typeface="+mj-lt"/>
              <a:cs typeface="Times New Roman" panose="02020603050405020304" pitchFamily="18" charset="0"/>
            </a:endParaRPr>
          </a:p>
          <a:p>
            <a:pPr lvl="0" algn="ctr">
              <a:buSzPts val="1800"/>
            </a:pPr>
            <a:r>
              <a:rPr lang="en-AE" sz="2300" b="1" dirty="0">
                <a:latin typeface="+mj-lt"/>
                <a:cs typeface="Times New Roman" panose="02020603050405020304" pitchFamily="18" charset="0"/>
              </a:rPr>
              <a:t>Presented By :</a:t>
            </a:r>
          </a:p>
          <a:p>
            <a:pPr lvl="0" algn="ctr">
              <a:buSzPts val="1800"/>
            </a:pPr>
            <a:r>
              <a:rPr lang="en-AE" sz="2500" dirty="0">
                <a:latin typeface="+mj-lt"/>
                <a:cs typeface="Times New Roman" panose="02020603050405020304" pitchFamily="18" charset="0"/>
              </a:rPr>
              <a:t>GADIMUDI JYOTHI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23E7-956F-8AB7-3D16-6508DC3B0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265472"/>
            <a:ext cx="11041625" cy="75708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About Me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3FB6-E19D-11CC-9600-E85D348C6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097" y="1022555"/>
            <a:ext cx="11041625" cy="512260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100" b="1" dirty="0">
                <a:latin typeface="+mn-lt"/>
              </a:rPr>
              <a:t>Gadimudi Jyothi</a:t>
            </a:r>
            <a:r>
              <a:rPr lang="en-IN" b="1" dirty="0">
                <a:latin typeface="+mn-lt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+mn-lt"/>
                <a:cs typeface="Times New Roman"/>
              </a:rPr>
              <a:t>B.</a:t>
            </a:r>
            <a:r>
              <a:rPr lang="en-US" sz="1700" dirty="0" err="1">
                <a:solidFill>
                  <a:schemeClr val="tx1"/>
                </a:solidFill>
                <a:latin typeface="+mn-lt"/>
                <a:cs typeface="Times New Roman"/>
              </a:rPr>
              <a:t>Tech</a:t>
            </a:r>
            <a:r>
              <a:rPr lang="en-US" sz="2000" dirty="0">
                <a:solidFill>
                  <a:schemeClr val="tx1"/>
                </a:solidFill>
                <a:latin typeface="+mn-lt"/>
                <a:cs typeface="Times New Roman"/>
              </a:rPr>
              <a:t> – Data Science(CSD)</a:t>
            </a:r>
          </a:p>
          <a:p>
            <a:pPr marL="114300" indent="0">
              <a:buNone/>
            </a:pPr>
            <a:endParaRPr lang="en-US" sz="2000" dirty="0">
              <a:solidFill>
                <a:schemeClr val="tx1"/>
              </a:solidFill>
              <a:latin typeface="+mn-lt"/>
              <a:cs typeface="Times New Roman"/>
            </a:endParaRPr>
          </a:p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+mn-lt"/>
                <a:cs typeface="Times New Roman"/>
              </a:rPr>
              <a:t>Why Data Science? </a:t>
            </a:r>
            <a:endParaRPr lang="en-IN" sz="2400" b="1" dirty="0">
              <a:solidFill>
                <a:schemeClr val="tx1"/>
              </a:solidFill>
              <a:latin typeface="+mn-lt"/>
              <a:cs typeface="Times New Roman"/>
            </a:endParaRPr>
          </a:p>
          <a:p>
            <a:pPr marL="114300" indent="0">
              <a:buNone/>
            </a:pPr>
            <a:r>
              <a:rPr lang="en-US" sz="2000" dirty="0"/>
              <a:t>Data Science offers the power to predict trends, make smarter decisions, solve real-world problems, and build a successful career with high demand, attractive salaries, diverse job opportunities, and flexible work options.</a:t>
            </a:r>
            <a:endParaRPr lang="en-AE" sz="2000" dirty="0"/>
          </a:p>
          <a:p>
            <a:pPr marL="114300" indent="0">
              <a:buNone/>
            </a:pPr>
            <a:endParaRPr lang="en-US" sz="2400" b="1" spc="-10" dirty="0">
              <a:solidFill>
                <a:schemeClr val="tx1"/>
              </a:solidFill>
              <a:uFill>
                <a:solidFill>
                  <a:srgbClr val="0462C1"/>
                </a:solidFill>
              </a:uFill>
              <a:latin typeface="+mn-lt"/>
              <a:cs typeface="Times New Roman"/>
            </a:endParaRPr>
          </a:p>
          <a:p>
            <a:pPr marL="114300" indent="0">
              <a:buNone/>
            </a:pPr>
            <a:r>
              <a:rPr lang="en-US" sz="2400" b="1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+mn-lt"/>
                <a:cs typeface="Times New Roman"/>
              </a:rPr>
              <a:t>Work Experience </a:t>
            </a:r>
            <a:r>
              <a:rPr lang="en-US" sz="2000" b="1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: </a:t>
            </a:r>
            <a:r>
              <a:rPr lang="en-US" sz="2000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+mn-lt"/>
                <a:cs typeface="Times New Roman"/>
              </a:rPr>
              <a:t>Fresher</a:t>
            </a:r>
          </a:p>
          <a:p>
            <a:pPr marL="114300" indent="0">
              <a:buNone/>
            </a:pPr>
            <a:endParaRPr lang="en-US" sz="2000" spc="-10" dirty="0">
              <a:solidFill>
                <a:schemeClr val="tx1"/>
              </a:solidFill>
              <a:uFill>
                <a:solidFill>
                  <a:srgbClr val="0462C1"/>
                </a:solidFill>
              </a:uFill>
              <a:latin typeface="+mn-lt"/>
              <a:cs typeface="Times New Roman"/>
            </a:endParaRPr>
          </a:p>
          <a:p>
            <a:pPr marL="114300" indent="0">
              <a:buNone/>
            </a:pPr>
            <a:r>
              <a:rPr lang="en-US" sz="2400" b="1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+mn-lt"/>
                <a:cs typeface="Times New Roman"/>
              </a:rPr>
              <a:t>LinkedIn : https://www.linkedin.com/in/gadimudi-jyothi-41a9642b9/</a:t>
            </a:r>
            <a:endParaRPr lang="en-US" sz="1800" spc="-10" dirty="0">
              <a:solidFill>
                <a:schemeClr val="tx1"/>
              </a:solidFill>
              <a:uFill>
                <a:solidFill>
                  <a:srgbClr val="0462C1"/>
                </a:solidFill>
              </a:uFill>
              <a:latin typeface="+mn-lt"/>
              <a:cs typeface="Times New Roman"/>
            </a:endParaRPr>
          </a:p>
          <a:p>
            <a:pPr marL="114300" indent="0">
              <a:buNone/>
            </a:pPr>
            <a:endParaRPr lang="en-US" sz="1800" spc="-10" dirty="0">
              <a:solidFill>
                <a:schemeClr val="tx1"/>
              </a:solidFill>
              <a:uFill>
                <a:solidFill>
                  <a:srgbClr val="0462C1"/>
                </a:solidFill>
              </a:uFill>
              <a:latin typeface="+mn-lt"/>
              <a:cs typeface="Times New Roman"/>
            </a:endParaRPr>
          </a:p>
          <a:p>
            <a:pPr marL="114300" indent="0">
              <a:buNone/>
            </a:pPr>
            <a:r>
              <a:rPr lang="en-AE" sz="2400" b="1" dirty="0">
                <a:latin typeface="+mn-lt"/>
              </a:rPr>
              <a:t>GitHub  : </a:t>
            </a:r>
            <a:r>
              <a:rPr lang="en-IN" sz="2400" b="1" dirty="0">
                <a:latin typeface="+mn-lt"/>
              </a:rPr>
              <a:t>https://github.com/Gadimudi30</a:t>
            </a:r>
            <a:endParaRPr lang="en-IN" sz="1800" dirty="0">
              <a:latin typeface="+mn-lt"/>
            </a:endParaRPr>
          </a:p>
          <a:p>
            <a:pPr marL="114300" indent="0">
              <a:buNone/>
            </a:pPr>
            <a:endParaRPr lang="en-AE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382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314632"/>
            <a:ext cx="10515600" cy="7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dirty="0">
                <a:solidFill>
                  <a:srgbClr val="FF0000"/>
                </a:solidFill>
                <a:latin typeface="+mn-lt"/>
              </a:rPr>
              <a:t>Agenda</a:t>
            </a:r>
            <a:endParaRPr sz="4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150374"/>
            <a:ext cx="10838526" cy="498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Database Structure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 </a:t>
            </a: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b="1" dirty="0"/>
          </a:p>
          <a:p>
            <a:pPr lvl="0" indent="-431800">
              <a:buSzPts val="2400"/>
            </a:pPr>
            <a:r>
              <a:rPr lang="en-IN" sz="2400" b="1" dirty="0"/>
              <a:t>Experience/Challenges</a:t>
            </a:r>
            <a:endParaRPr lang="en-IN" sz="2400" dirty="0"/>
          </a:p>
          <a:p>
            <a:pPr lvl="0" indent="-431800">
              <a:buSzPts val="2400"/>
            </a:pPr>
            <a:endParaRPr lang="en-IN" sz="2400" b="1" dirty="0"/>
          </a:p>
          <a:p>
            <a:pPr lvl="0" indent="-431800">
              <a:buSzPts val="2400"/>
            </a:pPr>
            <a:r>
              <a:rPr lang="en-IN" sz="2400" b="1" dirty="0"/>
              <a:t>Conclusion</a:t>
            </a:r>
            <a:endParaRPr lang="en-IN"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0839-4FF5-3F94-8727-DA1CA6C9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5470"/>
            <a:ext cx="10972800" cy="101272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3300" b="1" dirty="0">
                <a:solidFill>
                  <a:srgbClr val="FF0000"/>
                </a:solidFill>
                <a:latin typeface="+mn-lt"/>
              </a:rPr>
              <a:t>Objective of the Project :</a:t>
            </a:r>
            <a:br>
              <a:rPr lang="en-IN" sz="3300" b="1" dirty="0">
                <a:solidFill>
                  <a:srgbClr val="FF0000"/>
                </a:solidFill>
              </a:rPr>
            </a:br>
            <a:endParaRPr lang="en-AE" sz="33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D52B1-A46E-88BA-65EE-8D7F46D9C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090" y="1278194"/>
            <a:ext cx="10776155" cy="4817806"/>
          </a:xfrm>
        </p:spPr>
        <p:txBody>
          <a:bodyPr>
            <a:noAutofit/>
          </a:bodyPr>
          <a:lstStyle/>
          <a:p>
            <a:r>
              <a:rPr lang="en-US" sz="2100" dirty="0"/>
              <a:t>The objective of this project is to design and implement a </a:t>
            </a:r>
            <a:r>
              <a:rPr lang="en-US" sz="2100" b="1" dirty="0"/>
              <a:t>Hospital Patient Care Operations Analytics System</a:t>
            </a:r>
            <a:r>
              <a:rPr lang="en-US" sz="2100" dirty="0"/>
              <a:t> that efficiently stores and manages hospital-related data within a relational database.</a:t>
            </a:r>
          </a:p>
          <a:p>
            <a:r>
              <a:rPr lang="en-US" sz="2100" dirty="0"/>
              <a:t>The system needs to manage various aspects of hospital operations, including </a:t>
            </a:r>
            <a:r>
              <a:rPr lang="en-US" sz="2100" b="1" dirty="0"/>
              <a:t>patient information, appointments, treatments, doctors, and rooms</a:t>
            </a:r>
            <a:r>
              <a:rPr lang="en-US" sz="2100" dirty="0"/>
              <a:t>.</a:t>
            </a:r>
          </a:p>
          <a:p>
            <a:r>
              <a:rPr lang="en-US" sz="2100" dirty="0"/>
              <a:t>The system should maintain the </a:t>
            </a:r>
            <a:r>
              <a:rPr lang="en-US" sz="2100" b="1" dirty="0"/>
              <a:t>integrity and consistency of data</a:t>
            </a:r>
            <a:r>
              <a:rPr lang="en-US" sz="2100" dirty="0"/>
              <a:t> by using relational tables with appropriate primary keys, foreign keys, and relationships.</a:t>
            </a:r>
          </a:p>
          <a:p>
            <a:r>
              <a:rPr lang="en-US" sz="2100" dirty="0"/>
              <a:t>The system should allow efficient management and querying of hospital data, providing insights into </a:t>
            </a:r>
            <a:r>
              <a:rPr lang="en-US" sz="2100" b="1" dirty="0"/>
              <a:t>patient demand, appointment behavior, treatment outcomes, doctor performance, and room utilization</a:t>
            </a:r>
            <a:r>
              <a:rPr lang="en-US" sz="2100" dirty="0"/>
              <a:t>.</a:t>
            </a:r>
          </a:p>
          <a:p>
            <a:r>
              <a:rPr lang="en-US" sz="2100" dirty="0"/>
              <a:t>The system should help identify operational issues such as </a:t>
            </a:r>
            <a:r>
              <a:rPr lang="en-US" sz="2100" b="1" dirty="0"/>
              <a:t>cancellations, no-shows, rescheduled appointments, waiting times, and multiple treatment attempts</a:t>
            </a:r>
            <a:r>
              <a:rPr lang="en-US" sz="2100" dirty="0"/>
              <a:t>.</a:t>
            </a:r>
          </a:p>
          <a:p>
            <a:r>
              <a:rPr lang="en-US" sz="2100" dirty="0"/>
              <a:t>The goal is to support the hospital's operations team in making </a:t>
            </a:r>
            <a:r>
              <a:rPr lang="en-US" sz="2100" b="1" dirty="0"/>
              <a:t>data-driven decisions</a:t>
            </a:r>
            <a:r>
              <a:rPr lang="en-US" sz="2100" dirty="0"/>
              <a:t>, improving resource utilization, and enhancing overall patient care and operational efficiency.</a:t>
            </a:r>
            <a:endParaRPr lang="en-AE" sz="2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416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4E73C-CD18-0D81-B07F-5232825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9" y="306131"/>
            <a:ext cx="11051458" cy="1080217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solidFill>
                  <a:srgbClr val="FF0000"/>
                </a:solidFill>
              </a:rPr>
              <a:t>Database Structure : </a:t>
            </a:r>
            <a:br>
              <a:rPr lang="en-IN" b="1" dirty="0"/>
            </a:b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666A4-0A7C-E0C0-5083-EDA37EE77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769" y="1386348"/>
            <a:ext cx="11051458" cy="479061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/>
              <a:t>This project contains </a:t>
            </a:r>
            <a:r>
              <a:rPr lang="en-US" sz="2400" b="1" dirty="0"/>
              <a:t>5 interrelated tables</a:t>
            </a:r>
            <a:r>
              <a:rPr lang="en-US" sz="2400" dirty="0"/>
              <a:t>:</a:t>
            </a:r>
          </a:p>
          <a:p>
            <a:pPr marL="571500" lvl="1" indent="0">
              <a:buNone/>
            </a:pPr>
            <a:r>
              <a:rPr lang="en-US" dirty="0"/>
              <a:t>• Patients</a:t>
            </a:r>
            <a:br>
              <a:rPr lang="en-US" dirty="0"/>
            </a:br>
            <a:r>
              <a:rPr lang="en-US" dirty="0"/>
              <a:t>• Appointments</a:t>
            </a:r>
            <a:br>
              <a:rPr lang="en-US" dirty="0"/>
            </a:br>
            <a:r>
              <a:rPr lang="en-US" dirty="0"/>
              <a:t>• Treatments</a:t>
            </a:r>
            <a:br>
              <a:rPr lang="en-US" dirty="0"/>
            </a:br>
            <a:r>
              <a:rPr lang="en-US" dirty="0"/>
              <a:t>• Doctors</a:t>
            </a:r>
            <a:br>
              <a:rPr lang="en-US" dirty="0"/>
            </a:br>
            <a:r>
              <a:rPr lang="en-US" dirty="0"/>
              <a:t>• Rooms</a:t>
            </a:r>
          </a:p>
          <a:p>
            <a:pPr marL="571500" lvl="1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400" dirty="0"/>
              <a:t>These tables are connected using </a:t>
            </a:r>
            <a:r>
              <a:rPr lang="en-US" sz="2400" b="1" dirty="0"/>
              <a:t>Primary Keys</a:t>
            </a:r>
            <a:r>
              <a:rPr lang="en-US" sz="2400" dirty="0"/>
              <a:t> and </a:t>
            </a:r>
            <a:r>
              <a:rPr lang="en-US" sz="2400" b="1" dirty="0"/>
              <a:t>Foreign Keys</a:t>
            </a:r>
            <a:r>
              <a:rPr lang="en-US" sz="2400" dirty="0"/>
              <a:t> to maintain </a:t>
            </a:r>
            <a:r>
              <a:rPr lang="en-US" sz="2400" b="1" dirty="0"/>
              <a:t>relational database integrity</a:t>
            </a:r>
            <a:r>
              <a:rPr lang="en-US" sz="2400" dirty="0"/>
              <a:t>.</a:t>
            </a:r>
          </a:p>
          <a:p>
            <a:pPr marL="114300" indent="0">
              <a:buNone/>
            </a:pPr>
            <a:r>
              <a:rPr lang="en-US" sz="2400" dirty="0"/>
              <a:t>The relationships between these tables help in efficiently managing and analyzing </a:t>
            </a:r>
            <a:r>
              <a:rPr lang="en-US" sz="2400" b="1" dirty="0"/>
              <a:t>patient information, appointments, treatments, doctors, and hospital room resources</a:t>
            </a:r>
            <a:r>
              <a:rPr lang="en-US" sz="2400" dirty="0"/>
              <a:t>. 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0923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EED3-B30A-BC78-0F7E-CD859EE1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5"/>
            <a:ext cx="3271684" cy="88490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ER Diagram  </a:t>
            </a:r>
            <a:endParaRPr lang="en-AE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66A477-2B6A-4468-B41A-546D0F60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74" y="1140643"/>
            <a:ext cx="10180948" cy="517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0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6572-44CD-E72F-11AE-FDCD3A20D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25" y="386498"/>
            <a:ext cx="10908631" cy="665552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Basic Analysis / Data Exploration :</a:t>
            </a:r>
            <a:br>
              <a:rPr lang="en-AE" sz="2800" b="1" dirty="0"/>
            </a:b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54BB7-72DC-B53C-6BBF-96A76DCD3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644" y="985052"/>
            <a:ext cx="10908631" cy="5486450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US" sz="12800" dirty="0"/>
              <a:t>1. What is the total number of patients?</a:t>
            </a:r>
            <a:endParaRPr lang="en-AE" sz="12800" b="1" dirty="0"/>
          </a:p>
          <a:p>
            <a:pPr marL="114300" indent="0">
              <a:buNone/>
            </a:pPr>
            <a:r>
              <a:rPr lang="en-AE" sz="9600" b="1" dirty="0"/>
              <a:t>Query : </a:t>
            </a:r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r>
              <a:rPr lang="en-AE" sz="9600" b="1" dirty="0"/>
              <a:t>		</a:t>
            </a:r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r>
              <a:rPr lang="en-AE" sz="9600" b="1" dirty="0"/>
              <a:t>Output :</a:t>
            </a:r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endParaRPr lang="en-AE" sz="9600" b="1" dirty="0"/>
          </a:p>
          <a:p>
            <a:pPr lvl="0" algn="just"/>
            <a:r>
              <a:rPr lang="en-IN" sz="9600" dirty="0"/>
              <a:t>The </a:t>
            </a:r>
            <a:r>
              <a:rPr lang="en-IN" sz="9600" b="1" dirty="0"/>
              <a:t>PATIENTS</a:t>
            </a:r>
            <a:r>
              <a:rPr lang="en-IN" sz="9600" dirty="0"/>
              <a:t> table contains </a:t>
            </a:r>
            <a:r>
              <a:rPr lang="en-IN" sz="9600" b="1" dirty="0"/>
              <a:t>400 patients</a:t>
            </a:r>
            <a:r>
              <a:rPr lang="en-IN" sz="9600" dirty="0"/>
              <a:t> in total.</a:t>
            </a:r>
            <a:endParaRPr lang="en-AE" sz="9600" dirty="0"/>
          </a:p>
          <a:p>
            <a:pPr algn="just"/>
            <a:r>
              <a:rPr lang="en-US" altLang="en-US" sz="8000" dirty="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8000" b="1" dirty="0">
                <a:solidFill>
                  <a:schemeClr val="tx1"/>
                </a:solidFill>
                <a:latin typeface="Arial" panose="020B0604020202020204" pitchFamily="34" charset="0"/>
              </a:rPr>
              <a:t>COUNT(*)</a:t>
            </a:r>
            <a:r>
              <a:rPr lang="en-US" altLang="en-US" sz="8000" dirty="0">
                <a:solidFill>
                  <a:schemeClr val="tx1"/>
                </a:solidFill>
                <a:latin typeface="Arial" panose="020B0604020202020204" pitchFamily="34" charset="0"/>
              </a:rPr>
              <a:t> query successfully retrieves the </a:t>
            </a:r>
            <a:r>
              <a:rPr lang="en-US" altLang="en-US" sz="8000" b="1" dirty="0">
                <a:solidFill>
                  <a:schemeClr val="tx1"/>
                </a:solidFill>
                <a:latin typeface="Arial" panose="020B0604020202020204" pitchFamily="34" charset="0"/>
              </a:rPr>
              <a:t>total number of patients</a:t>
            </a:r>
            <a:r>
              <a:rPr lang="en-US" altLang="en-US" sz="8000" dirty="0">
                <a:solidFill>
                  <a:schemeClr val="tx1"/>
                </a:solidFill>
                <a:latin typeface="Arial" panose="020B0604020202020204" pitchFamily="34" charset="0"/>
              </a:rPr>
              <a:t> from the </a:t>
            </a:r>
            <a:r>
              <a:rPr lang="en-US" altLang="en-US" sz="8000" dirty="0">
                <a:solidFill>
                  <a:schemeClr val="tx1"/>
                </a:solidFill>
                <a:latin typeface="Arial Unicode MS"/>
              </a:rPr>
              <a:t>patients</a:t>
            </a:r>
            <a:r>
              <a:rPr lang="en-US" altLang="en-US" sz="8000" dirty="0">
                <a:solidFill>
                  <a:schemeClr val="tx1"/>
                </a:solidFill>
              </a:rPr>
              <a:t> table. </a:t>
            </a:r>
            <a:endParaRPr lang="en-US" altLang="en-US" sz="8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14300" lvl="0" indent="0" algn="just">
              <a:buNone/>
            </a:pPr>
            <a:endParaRPr lang="en-AE" sz="9600" dirty="0"/>
          </a:p>
          <a:p>
            <a:pPr lvl="0" algn="just"/>
            <a:endParaRPr lang="en-AE" sz="9600" dirty="0"/>
          </a:p>
          <a:p>
            <a:pPr marL="114300" indent="0">
              <a:buNone/>
            </a:pPr>
            <a:endParaRPr lang="en-AE" sz="9600" b="1" dirty="0"/>
          </a:p>
          <a:p>
            <a:pPr marL="114300" indent="0">
              <a:buNone/>
            </a:pPr>
            <a:endParaRPr lang="en-AE" sz="5100" b="1" dirty="0"/>
          </a:p>
          <a:p>
            <a:pPr marL="114300" indent="0">
              <a:buNone/>
            </a:pPr>
            <a:endParaRPr lang="en-AE" sz="5100" b="1" dirty="0"/>
          </a:p>
          <a:p>
            <a:pPr marL="114300" indent="0">
              <a:buNone/>
            </a:pPr>
            <a:r>
              <a:rPr lang="en-AE" sz="2400" b="1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9A06C-560D-4F08-801D-EFACB2A9F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296" y="1650604"/>
            <a:ext cx="3888918" cy="944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6556F8-7642-47CA-8E36-933741B4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991" y="3086245"/>
            <a:ext cx="2991566" cy="117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5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66CA-ECA2-E515-4A9C-743AFF70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55" y="326923"/>
            <a:ext cx="10515600" cy="77183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3600" dirty="0"/>
              <a:t>2. What are the different medical service types?</a:t>
            </a:r>
            <a:br>
              <a:rPr lang="en-US" sz="2800" dirty="0"/>
            </a:b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3E14F-2A27-B95B-167A-7C3600755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1213"/>
            <a:ext cx="10515600" cy="504394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Query : </a:t>
            </a:r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r>
              <a:rPr lang="en-IN" b="1" dirty="0"/>
              <a:t>Output : 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IN" b="1" dirty="0"/>
          </a:p>
          <a:p>
            <a:r>
              <a:rPr lang="en-US" sz="2400" dirty="0"/>
              <a:t>The </a:t>
            </a:r>
            <a:r>
              <a:rPr lang="en-US" sz="2400" b="1" dirty="0"/>
              <a:t>DISTINCT</a:t>
            </a:r>
            <a:r>
              <a:rPr lang="en-US" sz="2400" dirty="0"/>
              <a:t> query successfully identifies the </a:t>
            </a:r>
            <a:r>
              <a:rPr lang="en-US" sz="2400" b="1" dirty="0"/>
              <a:t>different medical service types</a:t>
            </a:r>
            <a:r>
              <a:rPr lang="en-US" sz="2400" dirty="0"/>
              <a:t> available in the hospital.</a:t>
            </a:r>
            <a:endParaRPr lang="en-AE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CA4F1-B064-47A3-BF13-337A7E941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56" y="1310326"/>
            <a:ext cx="3763882" cy="11689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1957C4-CBD6-474B-A725-E09B30DEB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614" y="2688362"/>
            <a:ext cx="2038635" cy="150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97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C510-4B11-8C97-E577-11B9C1F0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9611"/>
          </a:xfrm>
        </p:spPr>
        <p:txBody>
          <a:bodyPr>
            <a:noAutofit/>
          </a:bodyPr>
          <a:lstStyle/>
          <a:p>
            <a:r>
              <a:rPr lang="en-US" sz="3200" dirty="0"/>
              <a:t>3. What is the total estimated appointment value?</a:t>
            </a:r>
            <a:endParaRPr lang="en-AE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D875D-1F1A-6548-18DC-07EDA0C56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1884"/>
            <a:ext cx="10515600" cy="511507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SUM()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function is used to calculate the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total estimated appointment value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from the appointments table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57652-6CAA-4B51-AC39-B2F9CD74E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612" y="1262612"/>
            <a:ext cx="5801110" cy="1131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8BF2B1-1E62-4320-997A-59B780B2C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101" y="3209791"/>
            <a:ext cx="3549198" cy="125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41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87AB-B107-7E26-4F28-A36B9F963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2634"/>
          </a:xfrm>
        </p:spPr>
        <p:txBody>
          <a:bodyPr>
            <a:noAutofit/>
          </a:bodyPr>
          <a:lstStyle/>
          <a:p>
            <a:br>
              <a:rPr lang="en-AE" sz="2800" b="1" dirty="0"/>
            </a:br>
            <a:r>
              <a:rPr lang="en-US" sz="3200" b="1" dirty="0"/>
              <a:t>4</a:t>
            </a:r>
            <a:r>
              <a:rPr lang="en-US" sz="3200" dirty="0"/>
              <a:t>. What is the average treatment duration?</a:t>
            </a:r>
            <a:br>
              <a:rPr lang="en-AE" sz="2800" b="1" dirty="0"/>
            </a:b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FF70D-0C9D-85AB-B68B-87F2E40D5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9041"/>
            <a:ext cx="10515600" cy="443992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endParaRPr lang="en-US" sz="2400" b="1" dirty="0"/>
          </a:p>
          <a:p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AVG()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function successfully calculates the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average treatment duration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from the treatments table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F83AF-148F-4D1F-943A-30B9EEB47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252" y="1352017"/>
            <a:ext cx="6811326" cy="1070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D0C711-03FB-4D18-AAD9-EF80CF57F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322" y="2813172"/>
            <a:ext cx="3323795" cy="107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49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7195-8253-4510-AE57-137BAD87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303"/>
            <a:ext cx="10515600" cy="914400"/>
          </a:xfrm>
        </p:spPr>
        <p:txBody>
          <a:bodyPr>
            <a:normAutofit fontScale="90000"/>
          </a:bodyPr>
          <a:lstStyle/>
          <a:p>
            <a:br>
              <a:rPr lang="en-AE" sz="3100" b="1" dirty="0">
                <a:solidFill>
                  <a:srgbClr val="FF0000"/>
                </a:solidFill>
              </a:rPr>
            </a:br>
            <a:br>
              <a:rPr lang="en-AE" sz="3100" b="1" dirty="0">
                <a:solidFill>
                  <a:srgbClr val="FF0000"/>
                </a:solidFill>
              </a:rPr>
            </a:br>
            <a:r>
              <a:rPr lang="en-AE" sz="3600" b="1" dirty="0">
                <a:solidFill>
                  <a:srgbClr val="FF0000"/>
                </a:solidFill>
              </a:rPr>
              <a:t>2</a:t>
            </a:r>
            <a:r>
              <a:rPr lang="en-AE" sz="3100" b="1" dirty="0">
                <a:solidFill>
                  <a:srgbClr val="FF0000"/>
                </a:solidFill>
              </a:rPr>
              <a:t>.</a:t>
            </a:r>
            <a:r>
              <a:rPr lang="en-US" sz="3600" b="1" dirty="0">
                <a:solidFill>
                  <a:srgbClr val="FF0000"/>
                </a:solidFill>
              </a:rPr>
              <a:t>Understand Patient and Appointment Demand :</a:t>
            </a:r>
            <a:br>
              <a:rPr lang="en-US" sz="2800" b="1" dirty="0"/>
            </a:br>
            <a:br>
              <a:rPr lang="en-AE" sz="2800" b="1" dirty="0">
                <a:solidFill>
                  <a:srgbClr val="FF0000"/>
                </a:solidFill>
              </a:rPr>
            </a:b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DAA65-321B-4A31-5E75-6E6B35DA9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9703"/>
            <a:ext cx="10515600" cy="4987259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1.Compare appointments across service types and priorities?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r>
              <a:rPr lang="en-AE" sz="2400" b="1" dirty="0"/>
              <a:t>Query : 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r>
              <a:rPr lang="en-AE" sz="2400" b="1" dirty="0"/>
              <a:t>Output : 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r>
              <a:rPr lang="en-US" sz="2400" dirty="0"/>
              <a:t>The appointment analysis successfully compares </a:t>
            </a:r>
            <a:r>
              <a:rPr lang="en-US" sz="2400" b="1" dirty="0"/>
              <a:t>service types and priority levels</a:t>
            </a:r>
            <a:r>
              <a:rPr lang="en-US" sz="2400" dirty="0"/>
              <a:t> to identify differences in appointment demand.</a:t>
            </a:r>
            <a:endParaRPr lang="en-AE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4894A-96B0-466A-8BF5-8C711A96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27" y="1875934"/>
            <a:ext cx="5209667" cy="1423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1FCED6-ECD1-4D33-A83E-BB72F07E9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727" y="3648173"/>
            <a:ext cx="3955902" cy="133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68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EB21-B098-D0CA-1780-101D831D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676"/>
            <a:ext cx="10515600" cy="745919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2.Examine booking channels and their contribution to demand?</a:t>
            </a:r>
            <a:endParaRPr lang="en-AE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D00A9-C174-F9CC-B2E7-8DC05C39F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7020"/>
            <a:ext cx="10515600" cy="482994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2400" dirty="0"/>
              <a:t>The booking channel analysis shows the </a:t>
            </a:r>
            <a:r>
              <a:rPr lang="en-US" sz="2400" b="1" dirty="0"/>
              <a:t>contribution of different booking channels</a:t>
            </a:r>
            <a:r>
              <a:rPr lang="en-US" sz="2400" dirty="0"/>
              <a:t> to the overall appointment demand.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4C6D3-E39D-4433-A06F-710A6768C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951" y="1233596"/>
            <a:ext cx="5325489" cy="17735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4A6FA1-BCAA-4AB1-B231-C09D082DB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390" y="3429000"/>
            <a:ext cx="3482642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8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60A4F-BECB-0C14-6EDA-D329CBC1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271"/>
            <a:ext cx="10515600" cy="68125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3.Evaluate Treatment Performance :</a:t>
            </a:r>
            <a:endParaRPr lang="en-AE" sz="28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850E1-C41A-3599-11E0-064B66AC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7522"/>
            <a:ext cx="10515600" cy="5149441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2"/>
                </a:solidFill>
              </a:rPr>
              <a:t>1.</a:t>
            </a:r>
            <a:r>
              <a:rPr lang="en-US" dirty="0"/>
              <a:t> </a:t>
            </a:r>
            <a:r>
              <a:rPr lang="en-US" b="1" dirty="0"/>
              <a:t>Compare treatment outcomes across cities?</a:t>
            </a:r>
            <a:endParaRPr lang="en-IN" sz="3200" b="1" dirty="0"/>
          </a:p>
          <a:p>
            <a:pPr marL="114300" indent="0">
              <a:buNone/>
            </a:pPr>
            <a:r>
              <a:rPr lang="en-IN" sz="2400" b="1" dirty="0"/>
              <a:t>Query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analysis compares </a:t>
            </a:r>
            <a:r>
              <a:rPr lang="en-US" sz="2400" b="1" dirty="0"/>
              <a:t>treatment outcomes across different cities</a:t>
            </a:r>
            <a:r>
              <a:rPr lang="en-US" sz="2400" dirty="0"/>
              <a:t> to understand variations in treatment performance.</a:t>
            </a:r>
            <a:r>
              <a:rPr lang="en-IN" sz="2400" b="1" dirty="0"/>
              <a:t>  </a:t>
            </a:r>
            <a:endParaRPr lang="en-AE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D2312-8B84-41BB-8503-7E67FDEED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870" y="1621410"/>
            <a:ext cx="5759777" cy="1668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89B8DB-063D-4278-B5F0-76B821ABA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475" y="3497344"/>
            <a:ext cx="5291053" cy="152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7F0A-E943-6E0A-6822-0A77FC3AB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Autofit/>
          </a:bodyPr>
          <a:lstStyle/>
          <a:p>
            <a:br>
              <a:rPr lang="en-US" sz="3200" dirty="0"/>
            </a:br>
            <a:r>
              <a:rPr lang="en-US" sz="2600" b="1" dirty="0"/>
              <a:t>2.</a:t>
            </a:r>
            <a:r>
              <a:rPr lang="en-US" sz="2800" b="1" dirty="0"/>
              <a:t>Compare Completed, Cancelled, No-Show, Rescheduled, and In Progress outcomes?</a:t>
            </a:r>
            <a:br>
              <a:rPr lang="en-US" sz="2800" b="1" dirty="0"/>
            </a:br>
            <a:endParaRPr lang="en-AE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3F8F5-CF46-CE24-343C-D6EA8EE2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8865"/>
            <a:ext cx="10515600" cy="493809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2400" dirty="0"/>
              <a:t>The analysis compares different treatment outcomes, including </a:t>
            </a:r>
            <a:r>
              <a:rPr lang="en-US" sz="2400" b="1" dirty="0"/>
              <a:t>Completed, Cancelled, No-Show, Rescheduled, and In Progress</a:t>
            </a:r>
            <a:r>
              <a:rPr lang="en-US" sz="2400" dirty="0"/>
              <a:t>.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EEEA3-6346-42EF-9E53-6CBC4F0CC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859" y="1238865"/>
            <a:ext cx="7942529" cy="2032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AF68FA-0614-4246-AA2D-89A5AF2AD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347" y="3467746"/>
            <a:ext cx="4286848" cy="148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32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B2AD-8BE9-E445-ED6E-449BFAD2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130"/>
            <a:ext cx="10515600" cy="747252"/>
          </a:xfrm>
        </p:spPr>
        <p:txBody>
          <a:bodyPr>
            <a:normAutofit/>
          </a:bodyPr>
          <a:lstStyle/>
          <a:p>
            <a:r>
              <a:rPr lang="en-AE" sz="3200" b="1" dirty="0">
                <a:solidFill>
                  <a:srgbClr val="FF0000"/>
                </a:solidFill>
              </a:rPr>
              <a:t>4. </a:t>
            </a:r>
            <a:r>
              <a:rPr lang="en-US" sz="3200" b="1" dirty="0">
                <a:solidFill>
                  <a:srgbClr val="FF0000"/>
                </a:solidFill>
              </a:rPr>
              <a:t>Understand Doctor and Room Performance </a:t>
            </a:r>
            <a:r>
              <a:rPr lang="en-IN" sz="3200" b="1" dirty="0">
                <a:solidFill>
                  <a:srgbClr val="FF0000"/>
                </a:solidFill>
              </a:rPr>
              <a:t>:</a:t>
            </a:r>
            <a:endParaRPr lang="en-AE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D9270-1DD2-A4FA-F77B-EF6A19338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91380"/>
            <a:ext cx="10515600" cy="5328273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/>
              <a:t>1.</a:t>
            </a:r>
            <a:r>
              <a:rPr lang="en-US" dirty="0"/>
              <a:t> </a:t>
            </a:r>
            <a:r>
              <a:rPr lang="en-US" b="1" dirty="0"/>
              <a:t>Compare doctor performance across treatment outcomes?</a:t>
            </a: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AE" sz="2400" b="1" dirty="0">
                <a:solidFill>
                  <a:schemeClr val="tx1"/>
                </a:solidFill>
              </a:rPr>
              <a:t>Query : </a:t>
            </a: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AE" sz="2400" b="1" dirty="0">
                <a:solidFill>
                  <a:schemeClr val="tx1"/>
                </a:solidFill>
              </a:rPr>
              <a:t>Output :</a:t>
            </a: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analysis compares </a:t>
            </a:r>
            <a:r>
              <a:rPr lang="en-US" sz="2400" b="1" dirty="0"/>
              <a:t>doctor performance based on different treatment outcomes</a:t>
            </a:r>
            <a:r>
              <a:rPr lang="en-US" sz="2400" dirty="0"/>
              <a:t>.</a:t>
            </a:r>
          </a:p>
          <a:p>
            <a:r>
              <a:rPr lang="en-US" sz="2400" dirty="0"/>
              <a:t> The query helps identify the number of treatments handled by each doctor and their corresponding outcomes.</a:t>
            </a:r>
          </a:p>
          <a:p>
            <a:pPr marL="114300" indent="0">
              <a:buNone/>
            </a:pPr>
            <a:endParaRPr lang="en-AE" sz="24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96EDD5-DA26-41C8-B9AE-1801B00F3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326" y="1677970"/>
            <a:ext cx="5636773" cy="1989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F2158F-3527-4F10-AE91-31E1B5EE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378" y="3893270"/>
            <a:ext cx="4229690" cy="128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94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116D0-C731-8614-6B38-62214DDE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1726"/>
          </a:xfrm>
        </p:spPr>
        <p:txBody>
          <a:bodyPr>
            <a:normAutofit fontScale="90000"/>
          </a:bodyPr>
          <a:lstStyle/>
          <a:p>
            <a:br>
              <a:rPr lang="en-US" sz="3100" dirty="0"/>
            </a:br>
            <a:r>
              <a:rPr lang="en-US" sz="3100" b="1" dirty="0"/>
              <a:t>2.</a:t>
            </a:r>
            <a:r>
              <a:rPr lang="en-US" sz="3600" b="1" dirty="0"/>
              <a:t>Compare room usage across room types and equipment types?</a:t>
            </a:r>
            <a:br>
              <a:rPr lang="en-US" sz="3600" b="1" dirty="0"/>
            </a:br>
            <a:endParaRPr lang="en-AE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3538D-2782-87CC-7566-A15A00D1D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6852"/>
            <a:ext cx="10515600" cy="4768645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b="1" dirty="0"/>
              <a:t>Query : 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 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r>
              <a:rPr lang="en-US" sz="2400" dirty="0"/>
              <a:t>The query helps identify which </a:t>
            </a:r>
            <a:r>
              <a:rPr lang="en-US" sz="2400" b="1" dirty="0"/>
              <a:t>rooms and equipment types are used more frequently</a:t>
            </a:r>
            <a:r>
              <a:rPr lang="en-US" sz="2400" dirty="0"/>
              <a:t> for treatments.</a:t>
            </a:r>
            <a:endParaRPr lang="en-AE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E7BA76-3C8A-47EF-A712-82CD15EDA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442" y="1319734"/>
            <a:ext cx="4077269" cy="2057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D95E3F-1184-42DC-ADB1-2C3675FD7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809" y="3554646"/>
            <a:ext cx="2876951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28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D644-9B2D-A2EC-BF4E-8E22F930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18100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FF0000"/>
                </a:solidFill>
              </a:rPr>
            </a:br>
            <a:br>
              <a:rPr lang="en-US" sz="3200" b="1" dirty="0">
                <a:solidFill>
                  <a:srgbClr val="FF0000"/>
                </a:solidFill>
              </a:rPr>
            </a:br>
            <a:r>
              <a:rPr lang="en-US" sz="3200" b="1" dirty="0">
                <a:solidFill>
                  <a:srgbClr val="FF0000"/>
                </a:solidFill>
              </a:rPr>
              <a:t>5.Identify Treatment and Appointment Problems</a:t>
            </a:r>
            <a:br>
              <a:rPr lang="en-US" sz="3200" b="1" dirty="0"/>
            </a:br>
            <a:br>
              <a:rPr lang="en-US" sz="3200" b="1" dirty="0">
                <a:solidFill>
                  <a:srgbClr val="FF0000"/>
                </a:solidFill>
              </a:rPr>
            </a:br>
            <a:endParaRPr lang="en-AE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99262-47D9-59AD-C538-C9314A393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83227"/>
            <a:ext cx="10515600" cy="519373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1.Identify appointments requiring multiple treatment attempts?</a:t>
            </a:r>
            <a:endParaRPr lang="en-AE" sz="2400" b="1" dirty="0"/>
          </a:p>
          <a:p>
            <a:pPr marL="114300" indent="0">
              <a:buNone/>
            </a:pPr>
            <a:r>
              <a:rPr lang="en-AE" sz="2400" b="1" dirty="0"/>
              <a:t>Query : 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r>
              <a:rPr lang="en-AE" sz="2400" b="1" dirty="0"/>
              <a:t>Output : </a:t>
            </a:r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pPr marL="114300" indent="0">
              <a:buNone/>
            </a:pPr>
            <a:endParaRPr lang="en-AE" sz="2400" b="1" dirty="0"/>
          </a:p>
          <a:p>
            <a:r>
              <a:rPr lang="en-US" sz="2400" dirty="0"/>
              <a:t>The analysis identifies appointments that have </a:t>
            </a:r>
            <a:r>
              <a:rPr lang="en-US" sz="2400" b="1" dirty="0"/>
              <a:t>more than one treatment record</a:t>
            </a:r>
            <a:r>
              <a:rPr lang="en-US" sz="2400" dirty="0"/>
              <a:t>.</a:t>
            </a:r>
            <a:endParaRPr lang="en-AE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B87F7-A91D-4FE6-826A-CEDC1BAF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287" y="1684355"/>
            <a:ext cx="3972479" cy="1895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5AE620-F964-4129-9C02-D1486222E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103" y="3580095"/>
            <a:ext cx="2838846" cy="159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06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B885-2688-8709-10DE-D537911D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894735"/>
          </a:xfrm>
        </p:spPr>
        <p:txBody>
          <a:bodyPr>
            <a:noAutofit/>
          </a:bodyPr>
          <a:lstStyle/>
          <a:p>
            <a:br>
              <a:rPr lang="en-US" sz="3200" dirty="0"/>
            </a:br>
            <a:r>
              <a:rPr lang="en-US" sz="3200" b="1" dirty="0"/>
              <a:t>2.Find common problem statuses and patterns?</a:t>
            </a:r>
            <a:br>
              <a:rPr lang="en-US" sz="3200" dirty="0"/>
            </a:br>
            <a:endParaRPr lang="en-AE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17B7A-C3C6-3142-37C1-8DD904D35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9032"/>
            <a:ext cx="10515600" cy="494793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Query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r>
              <a:rPr lang="en-IN" sz="2400" b="1" dirty="0"/>
              <a:t>Output :</a:t>
            </a:r>
          </a:p>
          <a:p>
            <a:pPr marL="114300" indent="0">
              <a:buNone/>
            </a:pPr>
            <a:endParaRPr lang="en-IN" sz="2400" b="1" dirty="0"/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2400" dirty="0"/>
              <a:t>The analysis identifies common </a:t>
            </a:r>
            <a:r>
              <a:rPr lang="en-US" sz="2400" b="1" dirty="0"/>
              <a:t>problem statuses</a:t>
            </a:r>
            <a:r>
              <a:rPr lang="en-US" sz="2400" dirty="0"/>
              <a:t> such as cancellations, no-shows, and rescheduled appointments.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B492F-D0B5-489C-9883-ED661BBD6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986" y="1387620"/>
            <a:ext cx="5087060" cy="1895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43B11A-1F3F-473F-BEB2-444C48CDC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152" y="3600565"/>
            <a:ext cx="3038899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4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E08A1-FBA9-8545-8E85-BD0FEB4BE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3" y="365126"/>
            <a:ext cx="11041625" cy="103105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+mn-lt"/>
              </a:rPr>
              <a:t>Challenges / Experiences:</a:t>
            </a:r>
            <a:endParaRPr lang="en-AE" sz="4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B7BDD-C2A8-9493-A219-27D525754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103" y="1268361"/>
            <a:ext cx="11041625" cy="5224513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Understanding the </a:t>
            </a:r>
            <a:r>
              <a:rPr lang="en-US" sz="2600" b="1" dirty="0"/>
              <a:t>relationships between patients, appointments, treatments, doctors, and rooms</a:t>
            </a:r>
            <a:r>
              <a:rPr lang="en-US" sz="2600" dirty="0"/>
              <a:t> was one of the initial challenges.</a:t>
            </a:r>
          </a:p>
          <a:p>
            <a:r>
              <a:rPr lang="en-US" sz="2600" dirty="0"/>
              <a:t>Creating the database with the correct </a:t>
            </a:r>
            <a:r>
              <a:rPr lang="en-US" sz="2600" b="1" dirty="0"/>
              <a:t>Primary Keys and Foreign Keys</a:t>
            </a:r>
            <a:r>
              <a:rPr lang="en-US" sz="2600" dirty="0"/>
              <a:t> required careful planning.</a:t>
            </a:r>
          </a:p>
          <a:p>
            <a:r>
              <a:rPr lang="en-US" sz="2600" dirty="0"/>
              <a:t>Writing SQL queries using </a:t>
            </a:r>
            <a:r>
              <a:rPr lang="en-US" sz="2600" b="1" dirty="0"/>
              <a:t>JOIN, GROUP BY, COUNT(), SUM(), and AVG()</a:t>
            </a:r>
            <a:r>
              <a:rPr lang="en-US" sz="2600" dirty="0"/>
              <a:t> helped improve my SQL skills.</a:t>
            </a:r>
          </a:p>
          <a:p>
            <a:r>
              <a:rPr lang="en-US" sz="2600" dirty="0"/>
              <a:t>Analyzing data across multiple tables was challenging but helped me understand </a:t>
            </a:r>
            <a:r>
              <a:rPr lang="en-US" sz="2600" b="1" dirty="0"/>
              <a:t>relational database concepts</a:t>
            </a:r>
            <a:r>
              <a:rPr lang="en-US" sz="2600" dirty="0"/>
              <a:t> better.</a:t>
            </a:r>
          </a:p>
          <a:p>
            <a:r>
              <a:rPr lang="en-US" sz="2600" dirty="0"/>
              <a:t>Identifying meaningful patterns from the query results helped me improve my </a:t>
            </a:r>
            <a:r>
              <a:rPr lang="en-US" sz="2600" b="1" dirty="0"/>
              <a:t>analytical and problem-solving skills</a:t>
            </a:r>
            <a:r>
              <a:rPr lang="en-US" sz="2600" dirty="0"/>
              <a:t>.</a:t>
            </a:r>
          </a:p>
          <a:p>
            <a:r>
              <a:rPr lang="en-US" sz="2600" dirty="0"/>
              <a:t>Converting SQL query results into </a:t>
            </a:r>
            <a:r>
              <a:rPr lang="en-US" sz="2600" b="1" dirty="0"/>
              <a:t>business insights and practical recommendations</a:t>
            </a:r>
            <a:r>
              <a:rPr lang="en-US" sz="2600" dirty="0"/>
              <a:t> was a valuable learning experience.</a:t>
            </a:r>
          </a:p>
          <a:p>
            <a:r>
              <a:rPr lang="en-US" sz="2600" dirty="0"/>
              <a:t>Overall, the project provided practical experience in </a:t>
            </a:r>
            <a:r>
              <a:rPr lang="en-US" sz="2600" b="1" dirty="0"/>
              <a:t>database creation, SQL analysis, data interpretation, and business decision-making</a:t>
            </a:r>
            <a:r>
              <a:rPr lang="en-US" sz="2600" dirty="0"/>
              <a:t>.</a:t>
            </a:r>
          </a:p>
          <a:p>
            <a:pPr marL="11430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46460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CF24-C824-E6BA-F6CA-3368B97F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365126"/>
            <a:ext cx="10962968" cy="893404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Conclusion : </a:t>
            </a:r>
            <a:endParaRPr lang="en-AE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A55F5-26D8-F60A-1417-650191751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097" y="1258530"/>
            <a:ext cx="10962968" cy="5234344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Successfully designed and implemented a </a:t>
            </a:r>
            <a:r>
              <a:rPr lang="en-US" sz="2600" b="1" dirty="0"/>
              <a:t>Hospital Patient Care Operations Analytics System</a:t>
            </a:r>
            <a:r>
              <a:rPr lang="en-US" sz="2600" dirty="0"/>
              <a:t> using MySQL.</a:t>
            </a:r>
          </a:p>
          <a:p>
            <a:r>
              <a:rPr lang="en-US" sz="2600" dirty="0"/>
              <a:t>Managed five interrelated tables for </a:t>
            </a:r>
            <a:r>
              <a:rPr lang="en-US" sz="2600" b="1" dirty="0"/>
              <a:t>patients, appointments, treatments, doctors, and rooms</a:t>
            </a:r>
            <a:r>
              <a:rPr lang="en-US" sz="2600" dirty="0"/>
              <a:t>.</a:t>
            </a:r>
          </a:p>
          <a:p>
            <a:r>
              <a:rPr lang="en-US" sz="2600" dirty="0"/>
              <a:t>Used SQL queries, joins, and aggregate functions to generate meaningful </a:t>
            </a:r>
            <a:r>
              <a:rPr lang="en-US" sz="2600" b="1" dirty="0"/>
              <a:t>patient, appointment, treatment, doctor, and room insights</a:t>
            </a:r>
            <a:r>
              <a:rPr lang="en-US" sz="2600" dirty="0"/>
              <a:t>.</a:t>
            </a:r>
          </a:p>
          <a:p>
            <a:r>
              <a:rPr lang="en-US" sz="2600" dirty="0"/>
              <a:t>Analyzed </a:t>
            </a:r>
            <a:r>
              <a:rPr lang="en-US" sz="2600" b="1" dirty="0"/>
              <a:t>appointment demand, treatment outcomes, waiting time, doctor performance, room usage, and operational problems</a:t>
            </a:r>
            <a:r>
              <a:rPr lang="en-US" sz="2600" dirty="0"/>
              <a:t>.</a:t>
            </a:r>
          </a:p>
          <a:p>
            <a:r>
              <a:rPr lang="en-US" sz="2600" dirty="0"/>
              <a:t>Improved understanding of </a:t>
            </a:r>
            <a:r>
              <a:rPr lang="en-US" sz="2600" b="1" dirty="0"/>
              <a:t>relational database design, primary keys, foreign keys, data integrity, and SQL-based analysis</a:t>
            </a:r>
            <a:r>
              <a:rPr lang="en-US" sz="2600" dirty="0"/>
              <a:t>.</a:t>
            </a:r>
          </a:p>
          <a:p>
            <a:r>
              <a:rPr lang="en-US" sz="2600" b="1" dirty="0"/>
              <a:t>“This project helped me understand how SQL can be used to manage real-world hospital data and generate meaningful business insights for better healthcare operations. Thank you.”</a:t>
            </a:r>
            <a:endParaRPr lang="en-US" sz="2600" dirty="0"/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09995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8284" y="1543665"/>
            <a:ext cx="4709651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934066" y="2782528"/>
            <a:ext cx="5161934" cy="8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5300" b="1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5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2077</TotalTime>
  <Words>866</Words>
  <Application>Microsoft Office PowerPoint</Application>
  <PresentationFormat>Widescreen</PresentationFormat>
  <Paragraphs>195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Times New Roman</vt:lpstr>
      <vt:lpstr>Arial</vt:lpstr>
      <vt:lpstr>Arial Unicode MS</vt:lpstr>
      <vt:lpstr>Libre Baskerville</vt:lpstr>
      <vt:lpstr>Office Theme</vt:lpstr>
      <vt:lpstr>PowerPoint Presentation</vt:lpstr>
      <vt:lpstr>About Me</vt:lpstr>
      <vt:lpstr>Agenda</vt:lpstr>
      <vt:lpstr> Objective of the Project : </vt:lpstr>
      <vt:lpstr> Database Structure :  </vt:lpstr>
      <vt:lpstr>ER Diagram  </vt:lpstr>
      <vt:lpstr>Basic Analysis / Data Exploration : </vt:lpstr>
      <vt:lpstr> 2. What are the different medical service types? </vt:lpstr>
      <vt:lpstr>3. What is the total estimated appointment value?</vt:lpstr>
      <vt:lpstr> 4. What is the average treatment duration? </vt:lpstr>
      <vt:lpstr>  2.Understand Patient and Appointment Demand :  </vt:lpstr>
      <vt:lpstr>2.Examine booking channels and their contribution to demand?</vt:lpstr>
      <vt:lpstr>3.Evaluate Treatment Performance :</vt:lpstr>
      <vt:lpstr> 2.Compare Completed, Cancelled, No-Show, Rescheduled, and In Progress outcomes? </vt:lpstr>
      <vt:lpstr>4. Understand Doctor and Room Performance :</vt:lpstr>
      <vt:lpstr> 2.Compare room usage across room types and equipment types? </vt:lpstr>
      <vt:lpstr>  5.Identify Treatment and Appointment Problems  </vt:lpstr>
      <vt:lpstr> 2.Find common problem statuses and patterns? </vt:lpstr>
      <vt:lpstr>Challenges / Experiences:</vt:lpstr>
      <vt:lpstr>Conclusion 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Jyothi Gadimudi</cp:lastModifiedBy>
  <cp:revision>16</cp:revision>
  <dcterms:created xsi:type="dcterms:W3CDTF">2021-02-16T05:19:01Z</dcterms:created>
  <dcterms:modified xsi:type="dcterms:W3CDTF">2026-09-03T16:14:20Z</dcterms:modified>
</cp:coreProperties>
</file>